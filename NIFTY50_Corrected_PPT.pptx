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0" r:id="rId2"/>
    <p:sldId id="261" r:id="rId3"/>
    <p:sldId id="262" r:id="rId4"/>
    <p:sldId id="263" r:id="rId5"/>
    <p:sldId id="256" r:id="rId6"/>
    <p:sldId id="257" r:id="rId7"/>
    <p:sldId id="258" r:id="rId8"/>
    <p:sldId id="259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7144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64377C-B260-0096-83D6-48B643A7A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9144000" cy="514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199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E9398D-9640-1D8F-4D78-83F20DA9D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9144000" cy="514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991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665111-1C9E-515C-95C0-E30A60C73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5"/>
            <a:ext cx="9144000" cy="514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014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4A7705-C877-6596-5AC6-26413E226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5" y="-60960"/>
            <a:ext cx="8515606" cy="34184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8D6706-0AC8-4A01-944A-09F6B0FAA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39" y="3095337"/>
            <a:ext cx="3482340" cy="21477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3CBC02-8C1C-46A7-29C8-FFFC24B83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240" y="3194397"/>
            <a:ext cx="3733800" cy="183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84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 — XGBoost Results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classifier: will a stock's close price rise &gt;2% over next 5 trading days?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874520" cy="1234440"/>
          </a:xfrm>
          <a:prstGeom prst="roundRect">
            <a:avLst>
              <a:gd name="adj" fmla="val 8889"/>
            </a:avLst>
          </a:prstGeom>
          <a:solidFill>
            <a:srgbClr val="EBF0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91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2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56.2%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2523744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classified signals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04872" y="1600200"/>
            <a:ext cx="1874520" cy="1234440"/>
          </a:xfrm>
          <a:prstGeom prst="roundRect">
            <a:avLst>
              <a:gd name="adj" fmla="val 8889"/>
            </a:avLst>
          </a:prstGeom>
          <a:solidFill>
            <a:srgbClr val="EBF0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04872" y="1691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2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44.6%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04872" y="22677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78024" y="2523744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BUY signals of predicted BUYs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52544" y="1600200"/>
            <a:ext cx="1874520" cy="1234440"/>
          </a:xfrm>
          <a:prstGeom prst="roundRect">
            <a:avLst>
              <a:gd name="adj" fmla="val 8889"/>
            </a:avLst>
          </a:prstGeom>
          <a:solidFill>
            <a:srgbClr val="EBF0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52544" y="1691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2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352544" y="22677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25696" y="2523744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positive windows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0216" y="1600200"/>
            <a:ext cx="1874520" cy="1234440"/>
          </a:xfrm>
          <a:prstGeom prst="roundRect">
            <a:avLst>
              <a:gd name="adj" fmla="val 8889"/>
            </a:avLst>
          </a:prstGeom>
          <a:solidFill>
            <a:srgbClr val="EBF0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00216" y="1691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2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00216" y="226771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73368" y="2523744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ability score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EBF0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063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3355848"/>
            <a:ext cx="24323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Classifier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 · depth 6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 = 0.03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= 2 (handles imbalance)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time-series split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9718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EBF0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3063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(by Importance)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55848" y="3355848"/>
            <a:ext cx="24323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Momentum (10-day price change)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RSI (14-period)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Volume Ratio (vs 20-day MA)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Price vs MA50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Rolling Volatility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35040" y="297180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EBF0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72200" y="3063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44768" y="3355848"/>
            <a:ext cx="24323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~33.6% positive class — imbalanced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discontinuities from unadjusted splits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macro / news signals included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performance ≠ future returns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directional, not exact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41248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3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914400"/>
            <a:ext cx="2926080" cy="2926080"/>
          </a:xfrm>
          <a:prstGeom prst="ellipse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 |  RISK ANALYTICS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Analytics — Portfolio Profiles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· Sortino · Max Drawdown — three investor tiers derived from risk-return metrics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651760" cy="2514600"/>
          </a:xfrm>
          <a:prstGeom prst="roundRect">
            <a:avLst>
              <a:gd name="adj" fmla="val 5455"/>
            </a:avLst>
          </a:prstGeom>
          <a:solidFill>
            <a:srgbClr val="1E3A7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2075688"/>
            <a:ext cx="2432304" cy="347472"/>
          </a:xfrm>
          <a:prstGeom prst="roundRect">
            <a:avLst>
              <a:gd name="adj" fmla="val 18421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756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496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2898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2898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Volatility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1912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Sharpe: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3191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0.55–0.80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4838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91640" y="34838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25%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776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Volatility: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91640" y="3776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18%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preservation focus. Stocks with stable returns and low drawdown — FMCG, Pharma, select IT.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46120" y="1965960"/>
            <a:ext cx="2651760" cy="2514600"/>
          </a:xfrm>
          <a:prstGeom prst="roundRect">
            <a:avLst>
              <a:gd name="adj" fmla="val 5455"/>
            </a:avLst>
          </a:prstGeom>
          <a:solidFill>
            <a:srgbClr val="1E3A7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55848" y="2075688"/>
            <a:ext cx="2432304" cy="347472"/>
          </a:xfrm>
          <a:prstGeom prst="roundRect">
            <a:avLst>
              <a:gd name="adj" fmla="val 18421"/>
            </a:avLst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20756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496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83280" y="2898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560" y="2898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Profile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31912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Sharpe: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3191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0.80–1.20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34838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80560" y="34838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25–40%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3776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Volatility: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80560" y="3776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18–28%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Risk-return balance. Blend of growth and defensive stocks across Banking, IT and Energy.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35040" y="1965960"/>
            <a:ext cx="2651760" cy="2514600"/>
          </a:xfrm>
          <a:prstGeom prst="roundRect">
            <a:avLst>
              <a:gd name="adj" fmla="val 5455"/>
            </a:avLst>
          </a:prstGeom>
          <a:solidFill>
            <a:srgbClr val="1E3A7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44768" y="2075688"/>
            <a:ext cx="2432304" cy="347472"/>
          </a:xfrm>
          <a:prstGeom prst="roundRect">
            <a:avLst>
              <a:gd name="adj" fmla="val 18421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4768" y="2075688"/>
            <a:ext cx="2432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24963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Aggressive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172200" y="2898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69480" y="2898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Momentum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72200" y="31912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Sharpe: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69480" y="3191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1.20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172200" y="34838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Drawdown: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269480" y="34838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40%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72200" y="37764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Volatility: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69480" y="3776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28%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17220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return pursuit. High-momentum, high-volatility stocks for long horizon investors.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1440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5.0%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14400" y="4892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83464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~1.8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2834640" y="4892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Sharpe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75488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~2.4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4754880" y="4892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Sortino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67512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6675120" y="4892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Analyzed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41248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223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Backtesting &amp; Investment Signals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validation vs buy-and-hold benchmark · Actionable BUY / HOLD-SELL signals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627632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EBF0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6916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Methodology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4767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window: buy when model predicts BUY (≥threshold), hold until sell signal or 5 days. Compare cumulative return vs passive buy-and-hold over 2000–2021 period.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27432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EBF0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807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vs Buy-and-Hold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Model-filtered entries reduce drawdown exposure. In high-volatility periods (2008, 2020), signal filtering avoids the worst declines — though some upside is also missed.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3858768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EBF0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9227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Return Insight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417880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discontinuities (unadjusted splits/bonuses) inflate raw cumulative return curves. Comparative trends remain directionally valid for strategy evaluation.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627632"/>
            <a:ext cx="4023360" cy="3337560"/>
          </a:xfrm>
          <a:prstGeom prst="roundRect">
            <a:avLst>
              <a:gd name="adj" fmla="val 3288"/>
            </a:avLst>
          </a:prstGeom>
          <a:solidFill>
            <a:srgbClr val="EBF0F7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Signal System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2103120"/>
            <a:ext cx="3657600" cy="804672"/>
          </a:xfrm>
          <a:prstGeom prst="roundRect">
            <a:avLst>
              <a:gd name="adj" fmla="val 9091"/>
            </a:avLst>
          </a:prstGeom>
          <a:solidFill>
            <a:srgbClr val="E8F8F0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2194560"/>
            <a:ext cx="658368" cy="347472"/>
          </a:xfrm>
          <a:prstGeom prst="roundRect">
            <a:avLst>
              <a:gd name="adj" fmla="val 15789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945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23560" y="2194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 ≥ 0.6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23560" y="24140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predicted to rise &gt;2% in 5 days. Enter position.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00600" y="3017520"/>
            <a:ext cx="3657600" cy="804672"/>
          </a:xfrm>
          <a:prstGeom prst="roundRect">
            <a:avLst>
              <a:gd name="adj" fmla="val 9091"/>
            </a:avLst>
          </a:prstGeom>
          <a:solidFill>
            <a:srgbClr val="FEF9E7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3108960"/>
            <a:ext cx="658368" cy="347472"/>
          </a:xfrm>
          <a:prstGeom prst="roundRect">
            <a:avLst>
              <a:gd name="adj" fmla="val 1578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1089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31089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 0.4–0.6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623560" y="3328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signal. Hold existing position, no new entry.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931920"/>
            <a:ext cx="3657600" cy="804672"/>
          </a:xfrm>
          <a:prstGeom prst="roundRect">
            <a:avLst>
              <a:gd name="adj" fmla="val 9091"/>
            </a:avLst>
          </a:prstGeom>
          <a:solidFill>
            <a:srgbClr val="FDEDEC"/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4023360"/>
            <a:ext cx="658368" cy="347472"/>
          </a:xfrm>
          <a:prstGeom prst="roundRect">
            <a:avLst>
              <a:gd name="adj" fmla="val 15789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40233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23560" y="4023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22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confidence &lt; 0.4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23560" y="42428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Downward pressure predicted. Exit or avoid entry.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3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731520"/>
            <a:ext cx="2560320" cy="2560320"/>
          </a:xfrm>
          <a:prstGeom prst="ellipse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640080" y="3474720"/>
            <a:ext cx="2286000" cy="2286000"/>
          </a:xfrm>
          <a:prstGeom prst="ellipse">
            <a:avLst/>
          </a:prstGeom>
          <a:solidFill>
            <a:srgbClr val="1E3A7A"/>
          </a:solidFill>
          <a:ln w="12700">
            <a:solidFill>
              <a:srgbClr val="1E3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delivers — and where to go next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E3A7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47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828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Pipeline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17627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OHLC CSVs to actionable BUY/HOLD-SELL signals — cleaning, feature engineering, ML, risk analytics, and portfolio construction in one notebook.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18688" y="173736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E3A7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55848" y="1847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13048" y="1828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ML Application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217627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with ROC-AUC 0.54 and 56.2% accuracy — not a perfect predictor, but a meaningful signal layer that improves risk-adjusted entries.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0176" y="173736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E3A7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17336" y="1847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74536" y="1828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 Portfolios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17336" y="217627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investor profiles (Conservative / Balanced / Aggressive) built from Sharpe, Sortino, and max drawdown — not just returns.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127248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E3A7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369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51560" y="32186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566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reveals Momentum, RSI, and Volume Ratio drive predictions — giving analysts a model they can interrogate and trust.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18688" y="3127248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E3A7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55848" y="32369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13048" y="32186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55848" y="3566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macro indicators, sentiment signals, adjusted close prices, and live data feed for real-time recommendation updates.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80176" y="3127248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1E3A7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17336" y="32369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74536" y="321868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Acknowledged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17336" y="3566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Unadjusted prices, no macro context, class imbalance — documented honestly. Model is a decision-support tool, not a trading oracle.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412480" y="49377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643</Words>
  <Application>Microsoft Office PowerPoint</Application>
  <PresentationFormat>On-screen Show (16:9)</PresentationFormat>
  <Paragraphs>125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ADITYA RAJ</cp:lastModifiedBy>
  <cp:revision>4</cp:revision>
  <dcterms:created xsi:type="dcterms:W3CDTF">2026-06-12T16:47:52Z</dcterms:created>
  <dcterms:modified xsi:type="dcterms:W3CDTF">2026-06-12T17:56:30Z</dcterms:modified>
</cp:coreProperties>
</file>